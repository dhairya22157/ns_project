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Raleway Medium" charset="1" panose="00000000000000000000"/>
      <p:regular r:id="rId31"/>
    </p:embeddedFont>
    <p:embeddedFont>
      <p:font typeface="Raleway" charset="1" panose="00000000000000000000"/>
      <p:regular r:id="rId32"/>
    </p:embeddedFont>
    <p:embeddedFont>
      <p:font typeface="Raleway Bold" charset="1" panose="00000000000000000000"/>
      <p:regular r:id="rId33"/>
    </p:embeddedFont>
    <p:embeddedFont>
      <p:font typeface="Raleway Semi-Bold" charset="1" panose="000000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34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jpeg" Type="http://schemas.openxmlformats.org/officeDocument/2006/relationships/image"/><Relationship Id="rId11" Target="../media/image40.jpe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19.png" Type="http://schemas.openxmlformats.org/officeDocument/2006/relationships/image"/><Relationship Id="rId17" Target="../media/image20.svg" Type="http://schemas.openxmlformats.org/officeDocument/2006/relationships/image"/><Relationship Id="rId18" Target="../media/image21.png" Type="http://schemas.openxmlformats.org/officeDocument/2006/relationships/image"/><Relationship Id="rId19" Target="../media/image2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7999">
            <a:off x="13355201" y="2096527"/>
            <a:ext cx="2965815" cy="2995773"/>
          </a:xfrm>
          <a:custGeom>
            <a:avLst/>
            <a:gdLst/>
            <a:ahLst/>
            <a:cxnLst/>
            <a:rect r="r" b="b" t="t" l="l"/>
            <a:pathLst>
              <a:path h="2995773" w="2965815">
                <a:moveTo>
                  <a:pt x="0" y="0"/>
                </a:moveTo>
                <a:lnTo>
                  <a:pt x="2965815" y="0"/>
                </a:lnTo>
                <a:lnTo>
                  <a:pt x="2965815" y="2995773"/>
                </a:lnTo>
                <a:lnTo>
                  <a:pt x="0" y="2995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821675" y="5516292"/>
            <a:ext cx="3596418" cy="2922089"/>
          </a:xfrm>
          <a:custGeom>
            <a:avLst/>
            <a:gdLst/>
            <a:ahLst/>
            <a:cxnLst/>
            <a:rect r="r" b="b" t="t" l="l"/>
            <a:pathLst>
              <a:path h="2922089" w="3596418">
                <a:moveTo>
                  <a:pt x="0" y="0"/>
                </a:moveTo>
                <a:lnTo>
                  <a:pt x="3596418" y="0"/>
                </a:lnTo>
                <a:lnTo>
                  <a:pt x="3596418" y="2922090"/>
                </a:lnTo>
                <a:lnTo>
                  <a:pt x="0" y="29220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19762" y="-2546358"/>
            <a:ext cx="3925385" cy="3453918"/>
          </a:xfrm>
          <a:custGeom>
            <a:avLst/>
            <a:gdLst/>
            <a:ahLst/>
            <a:cxnLst/>
            <a:rect r="r" b="b" t="t" l="l"/>
            <a:pathLst>
              <a:path h="3453918" w="3925385">
                <a:moveTo>
                  <a:pt x="0" y="0"/>
                </a:moveTo>
                <a:lnTo>
                  <a:pt x="3925385" y="0"/>
                </a:lnTo>
                <a:lnTo>
                  <a:pt x="3925385" y="3453917"/>
                </a:lnTo>
                <a:lnTo>
                  <a:pt x="0" y="34539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48361" y="8787765"/>
            <a:ext cx="3402110" cy="3204337"/>
          </a:xfrm>
          <a:custGeom>
            <a:avLst/>
            <a:gdLst/>
            <a:ahLst/>
            <a:cxnLst/>
            <a:rect r="r" b="b" t="t" l="l"/>
            <a:pathLst>
              <a:path h="3204337" w="3402110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86221" y="8595947"/>
            <a:ext cx="2235015" cy="3748453"/>
          </a:xfrm>
          <a:custGeom>
            <a:avLst/>
            <a:gdLst/>
            <a:ahLst/>
            <a:cxnLst/>
            <a:rect r="r" b="b" t="t" l="l"/>
            <a:pathLst>
              <a:path h="3748453" w="2235015">
                <a:moveTo>
                  <a:pt x="0" y="0"/>
                </a:moveTo>
                <a:lnTo>
                  <a:pt x="2235015" y="0"/>
                </a:lnTo>
                <a:lnTo>
                  <a:pt x="2235015" y="3748453"/>
                </a:lnTo>
                <a:lnTo>
                  <a:pt x="0" y="374845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81385" y="-1895890"/>
            <a:ext cx="2568580" cy="3826562"/>
          </a:xfrm>
          <a:custGeom>
            <a:avLst/>
            <a:gdLst/>
            <a:ahLst/>
            <a:cxnLst/>
            <a:rect r="r" b="b" t="t" l="l"/>
            <a:pathLst>
              <a:path h="3826562" w="2568580">
                <a:moveTo>
                  <a:pt x="0" y="0"/>
                </a:moveTo>
                <a:lnTo>
                  <a:pt x="2568580" y="0"/>
                </a:lnTo>
                <a:lnTo>
                  <a:pt x="2568580" y="3826563"/>
                </a:lnTo>
                <a:lnTo>
                  <a:pt x="0" y="38265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921216" y="9140190"/>
            <a:ext cx="4370544" cy="1811789"/>
          </a:xfrm>
          <a:custGeom>
            <a:avLst/>
            <a:gdLst/>
            <a:ahLst/>
            <a:cxnLst/>
            <a:rect r="r" b="b" t="t" l="l"/>
            <a:pathLst>
              <a:path h="1811789" w="4370544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47805" y="9140190"/>
            <a:ext cx="4397342" cy="3869189"/>
          </a:xfrm>
          <a:custGeom>
            <a:avLst/>
            <a:gdLst/>
            <a:ahLst/>
            <a:cxnLst/>
            <a:rect r="r" b="b" t="t" l="l"/>
            <a:pathLst>
              <a:path h="3869189" w="4397342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00836" y="-819400"/>
            <a:ext cx="3422053" cy="2181559"/>
          </a:xfrm>
          <a:custGeom>
            <a:avLst/>
            <a:gdLst/>
            <a:ahLst/>
            <a:cxnLst/>
            <a:rect r="r" b="b" t="t" l="l"/>
            <a:pathLst>
              <a:path h="2181559" w="3422053">
                <a:moveTo>
                  <a:pt x="0" y="0"/>
                </a:moveTo>
                <a:lnTo>
                  <a:pt x="3422052" y="0"/>
                </a:lnTo>
                <a:lnTo>
                  <a:pt x="3422052" y="2181559"/>
                </a:lnTo>
                <a:lnTo>
                  <a:pt x="0" y="21815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504193">
            <a:off x="3502837" y="-1607230"/>
            <a:ext cx="3573704" cy="2506060"/>
          </a:xfrm>
          <a:custGeom>
            <a:avLst/>
            <a:gdLst/>
            <a:ahLst/>
            <a:cxnLst/>
            <a:rect r="r" b="b" t="t" l="l"/>
            <a:pathLst>
              <a:path h="2506060" w="3573704">
                <a:moveTo>
                  <a:pt x="0" y="0"/>
                </a:moveTo>
                <a:lnTo>
                  <a:pt x="3573704" y="0"/>
                </a:lnTo>
                <a:lnTo>
                  <a:pt x="3573704" y="2506060"/>
                </a:lnTo>
                <a:lnTo>
                  <a:pt x="0" y="250606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1945044" y="3201488"/>
            <a:ext cx="9702761" cy="395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7432"/>
              </a:lnSpc>
            </a:pPr>
            <a:r>
              <a:rPr lang="en-US" b="true" sz="6882" spc="-316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Exploration of Amazon’s Co-Purchase Network</a:t>
            </a:r>
          </a:p>
          <a:p>
            <a:pPr algn="l">
              <a:lnSpc>
                <a:spcPts val="7432"/>
              </a:lnSpc>
            </a:pPr>
          </a:p>
          <a:p>
            <a:pPr algn="l">
              <a:lnSpc>
                <a:spcPts val="4408"/>
              </a:lnSpc>
            </a:pPr>
            <a:r>
              <a:rPr lang="en-US" sz="4082" spc="-187" strike="noStrike" u="none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Presentation by: Dhairya, Harsh, Divyansh</a:t>
            </a:r>
          </a:p>
          <a:p>
            <a:pPr algn="l">
              <a:lnSpc>
                <a:spcPts val="4408"/>
              </a:lnSpc>
            </a:pPr>
            <a:r>
              <a:rPr lang="en-US" sz="4082" spc="-187" strike="noStrike" u="none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IIITD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8586669" y="-3086100"/>
            <a:ext cx="2453449" cy="4114800"/>
          </a:xfrm>
          <a:custGeom>
            <a:avLst/>
            <a:gdLst/>
            <a:ahLst/>
            <a:cxnLst/>
            <a:rect r="r" b="b" t="t" l="l"/>
            <a:pathLst>
              <a:path h="4114800" w="2453449">
                <a:moveTo>
                  <a:pt x="0" y="0"/>
                </a:moveTo>
                <a:lnTo>
                  <a:pt x="2453450" y="0"/>
                </a:lnTo>
                <a:lnTo>
                  <a:pt x="24534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09955" y="1502065"/>
            <a:ext cx="12500590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INTRODUCTION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6861" y="3463521"/>
            <a:ext cx="11114277" cy="5650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</a:t>
            </a: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is project focuses on analyzing a real-world co-purchase network derived from product purchases.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Each node represents a product, and a directed edge represents a co-purchase relationship.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 spc="28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study includes:</a:t>
            </a:r>
          </a:p>
          <a:p>
            <a:pPr algn="l" marL="1252215" indent="-417405" lvl="2">
              <a:lnSpc>
                <a:spcPts val="40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Topological characterization of the network</a:t>
            </a:r>
          </a:p>
          <a:p>
            <a:pPr algn="l" marL="1252215" indent="-417405" lvl="2">
              <a:lnSpc>
                <a:spcPts val="40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Community detection</a:t>
            </a:r>
          </a:p>
          <a:p>
            <a:pPr algn="l" marL="1252215" indent="-417405" lvl="2">
              <a:lnSpc>
                <a:spcPts val="40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Scale-free and small-world analysis</a:t>
            </a:r>
          </a:p>
          <a:p>
            <a:pPr algn="l" marL="1252215" indent="-417405" lvl="2">
              <a:lnSpc>
                <a:spcPts val="40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Predictive modeling to forecast co-purchases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05752"/>
            <a:ext cx="9480421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Dataset Description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921216" y="9140190"/>
            <a:ext cx="4370544" cy="1811789"/>
          </a:xfrm>
          <a:custGeom>
            <a:avLst/>
            <a:gdLst/>
            <a:ahLst/>
            <a:cxnLst/>
            <a:rect r="r" b="b" t="t" l="l"/>
            <a:pathLst>
              <a:path h="1811789" w="4370544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2061" y="1825375"/>
            <a:ext cx="13162098" cy="822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spc="25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We have taken the datasets from Amazon Copurchase dataset, which contains two files products.csv and copurchase.csv.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 spc="25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P</a:t>
            </a:r>
            <a:r>
              <a:rPr lang="en-US" b="true" sz="2599" spc="25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roduct Metadata (products.csv):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Contains detailed metadata for a collection of products, primarily books and music.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Key attributes include: product ID, title, group (category), sales rank, review count, rating, downloads, etc.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 spc="25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Product Co-purchase Network (copurchase.csv):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Represents a directed graph structure of co-purchase relationships between products.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Each row contains:</a:t>
            </a:r>
          </a:p>
          <a:p>
            <a:pPr algn="l" marL="1122678" indent="-374226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Source: The product ID of the primary item being purchased.</a:t>
            </a:r>
          </a:p>
          <a:p>
            <a:pPr algn="l" marL="1122678" indent="-374226" lvl="2">
              <a:lnSpc>
                <a:spcPts val="363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5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Target: The product ID of another item frequently co-purchased with the source item.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637999">
            <a:off x="13610960" y="1726615"/>
            <a:ext cx="4590006" cy="4636370"/>
          </a:xfrm>
          <a:custGeom>
            <a:avLst/>
            <a:gdLst/>
            <a:ahLst/>
            <a:cxnLst/>
            <a:rect r="r" b="b" t="t" l="l"/>
            <a:pathLst>
              <a:path h="4636370" w="4590006">
                <a:moveTo>
                  <a:pt x="0" y="0"/>
                </a:moveTo>
                <a:lnTo>
                  <a:pt x="4590006" y="0"/>
                </a:lnTo>
                <a:lnTo>
                  <a:pt x="4590006" y="4636370"/>
                </a:lnTo>
                <a:lnTo>
                  <a:pt x="0" y="46363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373410" y="9140190"/>
            <a:ext cx="3402110" cy="3204337"/>
          </a:xfrm>
          <a:custGeom>
            <a:avLst/>
            <a:gdLst/>
            <a:ahLst/>
            <a:cxnLst/>
            <a:rect r="r" b="b" t="t" l="l"/>
            <a:pathLst>
              <a:path h="3204337" w="3402110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1892596" y="-4209246"/>
            <a:ext cx="3123125" cy="5237946"/>
          </a:xfrm>
          <a:custGeom>
            <a:avLst/>
            <a:gdLst/>
            <a:ahLst/>
            <a:cxnLst/>
            <a:rect r="r" b="b" t="t" l="l"/>
            <a:pathLst>
              <a:path h="5237946" w="3123125">
                <a:moveTo>
                  <a:pt x="0" y="0"/>
                </a:moveTo>
                <a:lnTo>
                  <a:pt x="3123125" y="0"/>
                </a:lnTo>
                <a:lnTo>
                  <a:pt x="3123125" y="5237946"/>
                </a:lnTo>
                <a:lnTo>
                  <a:pt x="0" y="52379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60629" y="-2180022"/>
            <a:ext cx="4397342" cy="3869189"/>
          </a:xfrm>
          <a:custGeom>
            <a:avLst/>
            <a:gdLst/>
            <a:ahLst/>
            <a:cxnLst/>
            <a:rect r="r" b="b" t="t" l="l"/>
            <a:pathLst>
              <a:path h="3869189" w="4397342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454159" y="7350313"/>
            <a:ext cx="3666292" cy="248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8"/>
              </a:lnSpc>
              <a:spcBef>
                <a:spcPct val="0"/>
              </a:spcBef>
            </a:pPr>
            <a:r>
              <a:rPr lang="en-US" b="true" sz="2600" spc="-11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Dataset Statistics:</a:t>
            </a:r>
          </a:p>
          <a:p>
            <a:pPr algn="l">
              <a:lnSpc>
                <a:spcPts val="2808"/>
              </a:lnSpc>
              <a:spcBef>
                <a:spcPct val="0"/>
              </a:spcBef>
            </a:pPr>
          </a:p>
          <a:p>
            <a:pPr algn="l" marL="561341" indent="-280670" lvl="1">
              <a:lnSpc>
                <a:spcPts val="2808"/>
              </a:lnSpc>
              <a:buFont typeface="Arial"/>
              <a:buChar char="•"/>
            </a:pPr>
            <a:r>
              <a:rPr lang="en-US" sz="2600" spc="-11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Nodes: 310,771</a:t>
            </a:r>
          </a:p>
          <a:p>
            <a:pPr algn="l" marL="561341" indent="-280670" lvl="1">
              <a:lnSpc>
                <a:spcPts val="2808"/>
              </a:lnSpc>
              <a:buFont typeface="Arial"/>
              <a:buChar char="•"/>
            </a:pPr>
            <a:r>
              <a:rPr lang="en-US" sz="2600" spc="-11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Edges: 915,666</a:t>
            </a:r>
          </a:p>
          <a:p>
            <a:pPr algn="l" marL="561341" indent="-280670" lvl="1">
              <a:lnSpc>
                <a:spcPts val="2808"/>
              </a:lnSpc>
              <a:buFont typeface="Arial"/>
              <a:buChar char="•"/>
            </a:pPr>
            <a:r>
              <a:rPr lang="en-US" sz="2600" spc="-11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Average degree: 5.89</a:t>
            </a:r>
          </a:p>
          <a:p>
            <a:pPr algn="l" marL="561341" indent="-280670" lvl="1">
              <a:lnSpc>
                <a:spcPts val="2808"/>
              </a:lnSpc>
              <a:buFont typeface="Arial"/>
              <a:buChar char="•"/>
            </a:pPr>
            <a:r>
              <a:rPr lang="en-US" sz="2600" spc="-11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Maximum degree: 384</a:t>
            </a:r>
          </a:p>
          <a:p>
            <a:pPr algn="l" marL="561341" indent="-280670" lvl="1">
              <a:lnSpc>
                <a:spcPts val="2808"/>
              </a:lnSpc>
              <a:buFont typeface="Arial"/>
              <a:buChar char="•"/>
            </a:pPr>
            <a:r>
              <a:rPr lang="en-US" sz="2600" spc="-11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Minimum degree: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772983" y="3393918"/>
            <a:ext cx="5195429" cy="289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560"/>
              </a:lnSpc>
            </a:pPr>
            <a:r>
              <a:rPr lang="en-US" b="true" sz="7000" spc="-322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OVERVIEW OF OUR 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3287" y="1315085"/>
            <a:ext cx="8178653" cy="759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Structural and Topological Analysis of the Co-Purchase Network: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Compute Degree Distribution and visualize it using a log-log plot.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Average Clustering Coefficient to measure product co-purchase tendencies.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Assortativity to evaluate degree correlation between products.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Identify Strongly/Weakly Connected Components to understand product groupings.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Comparison with a Random (Erdős–Rényi) Network of the same size to assess network properties.</a:t>
            </a:r>
          </a:p>
          <a:p>
            <a:pPr algn="l">
              <a:lnSpc>
                <a:spcPts val="3219"/>
              </a:lnSpc>
            </a:pPr>
          </a:p>
          <a:p>
            <a:pPr algn="l">
              <a:lnSpc>
                <a:spcPts val="3219"/>
              </a:lnSpc>
            </a:pPr>
            <a:r>
              <a:rPr lang="en-US" sz="22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Community Detection and Modularity Analysis:</a:t>
            </a:r>
          </a:p>
          <a:p>
            <a:pPr algn="l" marL="496569" indent="-248284" lvl="1">
              <a:lnSpc>
                <a:spcPts val="3219"/>
              </a:lnSpc>
              <a:buAutoNum type="arabicPeriod" startAt="1"/>
            </a:pPr>
            <a:r>
              <a:rPr lang="en-US" b="true" sz="22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Analyze Community Structure: Investigate if products (e.g., books) are grouped together based on co-purchase behavior.</a:t>
            </a:r>
          </a:p>
          <a:p>
            <a:pPr algn="l" marL="496569" indent="-248284" lvl="1">
              <a:lnSpc>
                <a:spcPts val="3219"/>
              </a:lnSpc>
              <a:spcBef>
                <a:spcPct val="0"/>
              </a:spcBef>
              <a:buAutoNum type="arabicPeriod" startAt="1"/>
            </a:pPr>
            <a:r>
              <a:rPr lang="en-US" b="true" sz="22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Visualize Top Communities: Identify and visualize the most central products within these communities.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1772983" y="3393918"/>
            <a:ext cx="5195429" cy="289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560"/>
              </a:lnSpc>
            </a:pPr>
            <a:r>
              <a:rPr lang="en-US" b="true" sz="7000" spc="-322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OVERVIEW OF OUR 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89133" y="1393825"/>
            <a:ext cx="8178653" cy="744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Scale-F</a:t>
            </a:r>
            <a:r>
              <a:rPr lang="en-US" sz="24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ree &amp; Small-World Nat</a:t>
            </a:r>
            <a:r>
              <a:rPr lang="en-US" sz="24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ure Investigation:</a:t>
            </a:r>
          </a:p>
          <a:p>
            <a:pPr algn="l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Evaluate Scale-Free Behavior through power-law fitting to understand network degree distribution.</a:t>
            </a:r>
          </a:p>
          <a:p>
            <a:pPr algn="l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Measure Small-World Characteristics by analyzing the average shortest path length and clustering coefficient.</a:t>
            </a:r>
          </a:p>
          <a:p>
            <a:pPr algn="l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Plot Degree Distributions and Cumulative Degree Distributions to further confirm scale-free behavior.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Predictive Modeling for Co-Purchases:</a:t>
            </a:r>
          </a:p>
          <a:p>
            <a:pPr algn="l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Use Classifiers (e.g., Logistic Regression or Random Forest) to predict if a pair of products will be co-purchased.</a:t>
            </a:r>
          </a:p>
          <a:p>
            <a:pPr algn="l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Evaluate using ROC-AUC and Precision-Recall Metrics to measure model performance.</a:t>
            </a:r>
          </a:p>
          <a:p>
            <a:pPr algn="l" marL="539748" indent="-269874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Interpret Future Co-Purchases: Highlight the most likely future co-purchase recommendations.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1856608" y="-1020268"/>
            <a:ext cx="0" cy="13424066"/>
          </a:xfrm>
          <a:prstGeom prst="line">
            <a:avLst/>
          </a:prstGeom>
          <a:ln cap="flat" w="28575">
            <a:solidFill>
              <a:srgbClr val="F47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2620958" y="1735949"/>
            <a:ext cx="219732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b="true">
                <a:solidFill>
                  <a:srgbClr val="5B331A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03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19867" y="1862715"/>
            <a:ext cx="502056" cy="5020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7E3E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620958" y="2585250"/>
            <a:ext cx="4167839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</a:t>
            </a: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ssortativity coefficient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20958" y="4156875"/>
            <a:ext cx="219732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b="true">
                <a:solidFill>
                  <a:srgbClr val="5B331A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619867" y="4283640"/>
            <a:ext cx="502056" cy="5020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7E3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620958" y="5006175"/>
            <a:ext cx="4167839" cy="10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</a:t>
            </a: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dentifying connected components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20958" y="6701625"/>
            <a:ext cx="219732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b="true">
                <a:solidFill>
                  <a:srgbClr val="5B331A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05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619867" y="6828391"/>
            <a:ext cx="502056" cy="50205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7E3E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620958" y="7550926"/>
            <a:ext cx="4362322" cy="153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</a:t>
            </a: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omparison with a random Erdős–Rényi network of the same size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0348" y="792105"/>
            <a:ext cx="9171025" cy="222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640"/>
              </a:lnSpc>
              <a:spcBef>
                <a:spcPct val="0"/>
              </a:spcBef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Structural and Topological Analysis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0348" y="3510845"/>
            <a:ext cx="7670487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80"/>
              </a:lnSpc>
              <a:spcBef>
                <a:spcPct val="0"/>
              </a:spcBef>
            </a:pPr>
            <a:r>
              <a:rPr lang="en-US" b="true" sz="2200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</a:t>
            </a:r>
            <a:r>
              <a:rPr lang="en-US" b="true" sz="2200" strike="noStrike" u="none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this section, we analyze the co-purchase network's structure and topology using the following methods: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1265441" y="4534669"/>
            <a:ext cx="14287" cy="11908447"/>
          </a:xfrm>
          <a:prstGeom prst="line">
            <a:avLst/>
          </a:prstGeom>
          <a:ln cap="flat" w="28575">
            <a:solidFill>
              <a:srgbClr val="F47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028700" y="5902033"/>
            <a:ext cx="502056" cy="50205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7E3E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8322958"/>
            <a:ext cx="502056" cy="50205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47E3E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39700" y="158750"/>
              <a:ext cx="533400" cy="514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65660" y="5793016"/>
            <a:ext cx="219732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b="true">
                <a:solidFill>
                  <a:srgbClr val="5B331A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65660" y="8113306"/>
            <a:ext cx="2197323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b="true">
                <a:solidFill>
                  <a:srgbClr val="5B331A"/>
                </a:solidFill>
                <a:latin typeface="Raleway Semi-Bold"/>
                <a:ea typeface="Raleway Semi-Bold"/>
                <a:cs typeface="Raleway Semi-Bold"/>
                <a:sym typeface="Raleway Semi-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65660" y="6541681"/>
            <a:ext cx="636517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Degree di</a:t>
            </a: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stribution and log-log plot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063273" y="8861971"/>
            <a:ext cx="6365176" cy="50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Average clu</a:t>
            </a: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stering coefficient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3270" y="1467630"/>
            <a:ext cx="15921459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Degree Distribution (Log-Log Plot)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48361" y="8787765"/>
            <a:ext cx="3402110" cy="3204337"/>
          </a:xfrm>
          <a:custGeom>
            <a:avLst/>
            <a:gdLst/>
            <a:ahLst/>
            <a:cxnLst/>
            <a:rect r="r" b="b" t="t" l="l"/>
            <a:pathLst>
              <a:path h="3204337" w="3402110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1892596" y="-3681644"/>
            <a:ext cx="2808543" cy="4710344"/>
          </a:xfrm>
          <a:custGeom>
            <a:avLst/>
            <a:gdLst/>
            <a:ahLst/>
            <a:cxnLst/>
            <a:rect r="r" b="b" t="t" l="l"/>
            <a:pathLst>
              <a:path h="4710344" w="2808543">
                <a:moveTo>
                  <a:pt x="0" y="0"/>
                </a:moveTo>
                <a:lnTo>
                  <a:pt x="2808543" y="0"/>
                </a:lnTo>
                <a:lnTo>
                  <a:pt x="2808543" y="4710344"/>
                </a:lnTo>
                <a:lnTo>
                  <a:pt x="0" y="4710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21216" y="9140190"/>
            <a:ext cx="4370544" cy="1811789"/>
          </a:xfrm>
          <a:custGeom>
            <a:avLst/>
            <a:gdLst/>
            <a:ahLst/>
            <a:cxnLst/>
            <a:rect r="r" b="b" t="t" l="l"/>
            <a:pathLst>
              <a:path h="1811789" w="4370544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060629" y="-2180022"/>
            <a:ext cx="4397342" cy="3869189"/>
          </a:xfrm>
          <a:custGeom>
            <a:avLst/>
            <a:gdLst/>
            <a:ahLst/>
            <a:cxnLst/>
            <a:rect r="r" b="b" t="t" l="l"/>
            <a:pathLst>
              <a:path h="3869189" w="4397342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46238" y="5143500"/>
            <a:ext cx="10183399" cy="4187923"/>
          </a:xfrm>
          <a:custGeom>
            <a:avLst/>
            <a:gdLst/>
            <a:ahLst/>
            <a:cxnLst/>
            <a:rect r="r" b="b" t="t" l="l"/>
            <a:pathLst>
              <a:path h="4187923" w="10183399">
                <a:moveTo>
                  <a:pt x="0" y="0"/>
                </a:moveTo>
                <a:lnTo>
                  <a:pt x="10183399" y="0"/>
                </a:lnTo>
                <a:lnTo>
                  <a:pt x="10183399" y="4187923"/>
                </a:lnTo>
                <a:lnTo>
                  <a:pt x="0" y="41879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86861" y="3226386"/>
            <a:ext cx="11114277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Obj</a:t>
            </a:r>
            <a:r>
              <a:rPr lang="en-US" b="true" sz="28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ective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 assess how product popularity is distributed in the network.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8002" y="5194300"/>
            <a:ext cx="6993758" cy="359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133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W</a:t>
            </a:r>
            <a:r>
              <a:rPr lang="en-US" sz="2899" spc="-133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e compute the in-degree and out-degree distributions to understand product popularity.</a:t>
            </a:r>
          </a:p>
          <a:p>
            <a:pPr algn="ctr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133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Result: The log-log plot reveals a long-tail distribution, indicating that a few products are highly popular while the majority are less popular..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09955" y="954378"/>
            <a:ext cx="12500590" cy="222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Average Clustering Coefficient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6861" y="3906373"/>
            <a:ext cx="11114277" cy="448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jective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 measure the clustering tendency of products being co-purchased together.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</a:p>
          <a:p>
            <a:pPr algn="just">
              <a:lnSpc>
                <a:spcPts val="4479"/>
              </a:lnSpc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esul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ve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lus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terin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fici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 0.4198,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 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tive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ly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h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gh 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y for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ucts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to for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 dens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</a:p>
          <a:p>
            <a:pPr algn="just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lu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ers of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co-purchase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 product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09955" y="1502065"/>
            <a:ext cx="12500590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Assortativity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03112" y="3667939"/>
            <a:ext cx="11114277" cy="504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jective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 evaluate if products with similar degrees (popularity) tend to connect.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esul</a:t>
            </a: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assortativity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fici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 -0.0025,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suggestin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the network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exhibits disassort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tive m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ixin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g, m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ning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ucts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with higher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degr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ees 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end to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connect to those with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lower degree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s.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502013" y="2474271"/>
            <a:ext cx="8014477" cy="7189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  <a:r>
              <a:rPr lang="en-US" b="true" sz="2927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jective</a:t>
            </a:r>
          </a:p>
          <a:p>
            <a:pPr algn="l">
              <a:lnSpc>
                <a:spcPts val="4098"/>
              </a:lnSpc>
              <a:spcBef>
                <a:spcPct val="0"/>
              </a:spcBef>
            </a:pP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Identify strongly and weakly connected components in the network.</a:t>
            </a:r>
          </a:p>
          <a:p>
            <a:pPr algn="l">
              <a:lnSpc>
                <a:spcPts val="4098"/>
              </a:lnSpc>
              <a:spcBef>
                <a:spcPct val="0"/>
              </a:spcBef>
            </a:pPr>
          </a:p>
          <a:p>
            <a:pPr algn="l">
              <a:lnSpc>
                <a:spcPts val="4098"/>
              </a:lnSpc>
            </a:pPr>
            <a:r>
              <a:rPr lang="en-US" sz="2927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sz="2927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esul</a:t>
            </a:r>
            <a:r>
              <a:rPr lang="en-US" sz="2927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t</a:t>
            </a:r>
          </a:p>
          <a:p>
            <a:pPr algn="l" marL="632012" indent="-316006" lvl="1">
              <a:lnSpc>
                <a:spcPts val="40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Str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ongly Conn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ected Compon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ents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(SCC): 6,595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SCCs, with the larg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est SCC cont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 241,761 nodes.</a:t>
            </a:r>
          </a:p>
          <a:p>
            <a:pPr algn="l" marL="632012" indent="-316006" lvl="1">
              <a:lnSpc>
                <a:spcPts val="40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W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eakly Co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nnected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Com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onen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ts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(WCC): 1 WCC containing 262,110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nodes.</a:t>
            </a:r>
          </a:p>
          <a:p>
            <a:pPr algn="l" marL="632012" indent="-316006" lvl="1">
              <a:lnSpc>
                <a:spcPts val="409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larg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est w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eakly connected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component includes most of the nodes in the network, suggesting that</a:t>
            </a:r>
            <a:r>
              <a:rPr lang="en-US" b="true" sz="292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the network is well-connected.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768971" y="5583371"/>
            <a:ext cx="10202810" cy="2988702"/>
          </a:xfrm>
          <a:custGeom>
            <a:avLst/>
            <a:gdLst/>
            <a:ahLst/>
            <a:cxnLst/>
            <a:rect r="r" b="b" t="t" l="l"/>
            <a:pathLst>
              <a:path h="2988702" w="10202810">
                <a:moveTo>
                  <a:pt x="0" y="0"/>
                </a:moveTo>
                <a:lnTo>
                  <a:pt x="10202811" y="0"/>
                </a:lnTo>
                <a:lnTo>
                  <a:pt x="10202811" y="2988702"/>
                </a:lnTo>
                <a:lnTo>
                  <a:pt x="0" y="298870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809955" y="568283"/>
            <a:ext cx="12500590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Connected Components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8361" y="8787765"/>
            <a:ext cx="3402110" cy="3204337"/>
          </a:xfrm>
          <a:custGeom>
            <a:avLst/>
            <a:gdLst/>
            <a:ahLst/>
            <a:cxnLst/>
            <a:rect r="r" b="b" t="t" l="l"/>
            <a:pathLst>
              <a:path h="3204337" w="3402110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892596" y="-3681644"/>
            <a:ext cx="2808543" cy="4710344"/>
          </a:xfrm>
          <a:custGeom>
            <a:avLst/>
            <a:gdLst/>
            <a:ahLst/>
            <a:cxnLst/>
            <a:rect r="r" b="b" t="t" l="l"/>
            <a:pathLst>
              <a:path h="4710344" w="2808543">
                <a:moveTo>
                  <a:pt x="0" y="0"/>
                </a:moveTo>
                <a:lnTo>
                  <a:pt x="2808543" y="0"/>
                </a:lnTo>
                <a:lnTo>
                  <a:pt x="2808543" y="4710344"/>
                </a:lnTo>
                <a:lnTo>
                  <a:pt x="0" y="4710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21216" y="9140190"/>
            <a:ext cx="4370544" cy="1811789"/>
          </a:xfrm>
          <a:custGeom>
            <a:avLst/>
            <a:gdLst/>
            <a:ahLst/>
            <a:cxnLst/>
            <a:rect r="r" b="b" t="t" l="l"/>
            <a:pathLst>
              <a:path h="1811789" w="4370544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60629" y="-2180022"/>
            <a:ext cx="4397342" cy="3869189"/>
          </a:xfrm>
          <a:custGeom>
            <a:avLst/>
            <a:gdLst/>
            <a:ahLst/>
            <a:cxnLst/>
            <a:rect r="r" b="b" t="t" l="l"/>
            <a:pathLst>
              <a:path h="3869189" w="4397342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74422" y="4272596"/>
            <a:ext cx="10935745" cy="5467873"/>
          </a:xfrm>
          <a:custGeom>
            <a:avLst/>
            <a:gdLst/>
            <a:ahLst/>
            <a:cxnLst/>
            <a:rect r="r" b="b" t="t" l="l"/>
            <a:pathLst>
              <a:path h="5467873" w="10935745">
                <a:moveTo>
                  <a:pt x="0" y="0"/>
                </a:moveTo>
                <a:lnTo>
                  <a:pt x="10935745" y="0"/>
                </a:lnTo>
                <a:lnTo>
                  <a:pt x="10935745" y="5467873"/>
                </a:lnTo>
                <a:lnTo>
                  <a:pt x="0" y="5467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586861" y="1689597"/>
            <a:ext cx="11114277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Obj</a:t>
            </a:r>
            <a:r>
              <a:rPr lang="en-US" b="true" sz="28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ective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Compare the co-purchase network with a random Erdős–Rényi network of the same size (same number of nodes and edges).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3270" y="458153"/>
            <a:ext cx="15921459" cy="91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912"/>
              </a:lnSpc>
            </a:pPr>
            <a:r>
              <a:rPr lang="en-US" b="true" sz="6400" spc="-294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Comparison with Erdős–Rényi Random Graph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8002" y="3880869"/>
            <a:ext cx="6993758" cy="667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spc="-133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R</a:t>
            </a:r>
            <a:r>
              <a:rPr lang="en-US" sz="2899" spc="-133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esults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133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Real Network: Higher clustering coefficient, longer path lengths, indicating a small-world structure.</a:t>
            </a:r>
          </a:p>
          <a:p>
            <a:pPr algn="l" marL="626107" indent="-313054" lvl="1">
              <a:lnSpc>
                <a:spcPts val="4059"/>
              </a:lnSpc>
              <a:buFont typeface="Arial"/>
              <a:buChar char="•"/>
            </a:pPr>
            <a:r>
              <a:rPr lang="en-US" sz="2899" spc="-133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Random Network: Lower clustering coefficient and shorter path lengths.</a:t>
            </a:r>
          </a:p>
          <a:p>
            <a:pPr algn="l">
              <a:lnSpc>
                <a:spcPts val="4059"/>
              </a:lnSpc>
            </a:pPr>
          </a:p>
          <a:p>
            <a:pPr algn="l">
              <a:lnSpc>
                <a:spcPts val="4059"/>
              </a:lnSpc>
            </a:pPr>
            <a:r>
              <a:rPr lang="en-US" sz="2899" spc="-133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Key Insights</a:t>
            </a:r>
          </a:p>
          <a:p>
            <a:pPr algn="l">
              <a:lnSpc>
                <a:spcPts val="4059"/>
              </a:lnSpc>
            </a:pPr>
            <a:r>
              <a:rPr lang="en-US" sz="2899" spc="-133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The real co-purchase network exhibits a much more clustered structure than a random network and has longer path lengths.</a:t>
            </a:r>
          </a:p>
          <a:p>
            <a:pPr algn="l">
              <a:lnSpc>
                <a:spcPts val="40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93705" y="593195"/>
            <a:ext cx="12500590" cy="222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Community Detection and Modularity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60262" y="3114648"/>
            <a:ext cx="13167475" cy="6729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jective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Detect communities within the co-purchase network and analyze their modularity.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M</a:t>
            </a: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</a:t>
            </a: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thod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ommunity det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ectio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wa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 perform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ed us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 the Louv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ai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 method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on 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he larg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est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connected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component of the undirected co-purchas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 network.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Results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164 communities detected.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Modularity score: 0.9016, indicating strong community structure.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34516" y="3881120"/>
            <a:ext cx="9951118" cy="5970671"/>
          </a:xfrm>
          <a:custGeom>
            <a:avLst/>
            <a:gdLst/>
            <a:ahLst/>
            <a:cxnLst/>
            <a:rect r="r" b="b" t="t" l="l"/>
            <a:pathLst>
              <a:path h="5970671" w="9951118">
                <a:moveTo>
                  <a:pt x="0" y="0"/>
                </a:moveTo>
                <a:lnTo>
                  <a:pt x="9951119" y="0"/>
                </a:lnTo>
                <a:lnTo>
                  <a:pt x="9951119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14450" y="648039"/>
            <a:ext cx="7829550" cy="222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Community Visualization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1901" y="4111190"/>
            <a:ext cx="7339216" cy="544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Results</a:t>
            </a:r>
          </a:p>
          <a:p>
            <a:pPr algn="l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largest community (Community 10) contains 16,517 nodes.</a:t>
            </a:r>
          </a:p>
          <a:p>
            <a:pPr algn="l" marL="604518" indent="-302259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Top central products in the largest community include Product ID: 1241, 3661, 9131, 3673, 1964.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Insight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Communities reflect thematic or category-based groupings, such as books from similar genres.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76427" y="2073614"/>
            <a:ext cx="8867297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Obj</a:t>
            </a:r>
            <a:r>
              <a:rPr lang="en-US" b="true" sz="28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ective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Visualize the top communities and identify central products within them.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8361" y="8787765"/>
            <a:ext cx="3402110" cy="3204337"/>
          </a:xfrm>
          <a:custGeom>
            <a:avLst/>
            <a:gdLst/>
            <a:ahLst/>
            <a:cxnLst/>
            <a:rect r="r" b="b" t="t" l="l"/>
            <a:pathLst>
              <a:path h="3204337" w="3402110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892596" y="-3681644"/>
            <a:ext cx="2808543" cy="4710344"/>
          </a:xfrm>
          <a:custGeom>
            <a:avLst/>
            <a:gdLst/>
            <a:ahLst/>
            <a:cxnLst/>
            <a:rect r="r" b="b" t="t" l="l"/>
            <a:pathLst>
              <a:path h="4710344" w="2808543">
                <a:moveTo>
                  <a:pt x="0" y="0"/>
                </a:moveTo>
                <a:lnTo>
                  <a:pt x="2808543" y="0"/>
                </a:lnTo>
                <a:lnTo>
                  <a:pt x="2808543" y="4710344"/>
                </a:lnTo>
                <a:lnTo>
                  <a:pt x="0" y="4710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21216" y="9140190"/>
            <a:ext cx="4370544" cy="1811789"/>
          </a:xfrm>
          <a:custGeom>
            <a:avLst/>
            <a:gdLst/>
            <a:ahLst/>
            <a:cxnLst/>
            <a:rect r="r" b="b" t="t" l="l"/>
            <a:pathLst>
              <a:path h="1811789" w="4370544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60629" y="-2180022"/>
            <a:ext cx="4397342" cy="3869189"/>
          </a:xfrm>
          <a:custGeom>
            <a:avLst/>
            <a:gdLst/>
            <a:ahLst/>
            <a:cxnLst/>
            <a:rect r="r" b="b" t="t" l="l"/>
            <a:pathLst>
              <a:path h="3869189" w="4397342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2694" y="1823469"/>
            <a:ext cx="17226600" cy="8736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Obj</a:t>
            </a:r>
            <a:r>
              <a:rPr lang="en-US" b="true" sz="28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ective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Investigate whether the co-purchase network follows a power-law (scale-free) degree distribution and exhibits small-world characteristics.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 spc="-133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Power-Law Degree Distribution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 spc="-133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Power-law exponent (α): 3.6179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 spc="-133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Minimum degree: 19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 spc="-133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Log-likelihood ratio (vs. log normal) : -0.0698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 spc="-133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p-value: 0.8385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Key Insight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Degree distribution is heavy-tailed, suggesting scale-free tendencies.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</a:t>
            </a: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egree Distribution: The log-log plot shows a clear power-law relationship, indicating scale-free properties.</a:t>
            </a:r>
          </a:p>
          <a:p>
            <a:pPr algn="l" marL="626107" indent="-313054" lvl="1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Cumulative Degree Distribution (CCDF): The network follows the power-law distribution, reinforcing the scale-free nature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47366" y="772478"/>
            <a:ext cx="15921459" cy="916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6912"/>
              </a:lnSpc>
            </a:pPr>
            <a:r>
              <a:rPr lang="en-US" b="true" sz="6400" spc="-294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Scale-Free  Properties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344120" y="2848525"/>
            <a:ext cx="6915180" cy="4589951"/>
          </a:xfrm>
          <a:custGeom>
            <a:avLst/>
            <a:gdLst/>
            <a:ahLst/>
            <a:cxnLst/>
            <a:rect r="r" b="b" t="t" l="l"/>
            <a:pathLst>
              <a:path h="4589951" w="6915180">
                <a:moveTo>
                  <a:pt x="0" y="0"/>
                </a:moveTo>
                <a:lnTo>
                  <a:pt x="6915180" y="0"/>
                </a:lnTo>
                <a:lnTo>
                  <a:pt x="6915180" y="4589950"/>
                </a:lnTo>
                <a:lnTo>
                  <a:pt x="0" y="4589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09955" y="334918"/>
            <a:ext cx="12500590" cy="91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7020"/>
              </a:lnSpc>
            </a:pPr>
            <a:r>
              <a:rPr lang="en-US" b="true" sz="6500" spc="-2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Small-World Properties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43070" y="1725930"/>
            <a:ext cx="13167475" cy="845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  <a:r>
              <a:rPr lang="en-US" b="true" sz="2398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jective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Determine if the network exhibits small-world properties by analyzing the largest connected component (LCC).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</a:p>
          <a:p>
            <a:pPr algn="l">
              <a:lnSpc>
                <a:spcPts val="3357"/>
              </a:lnSpc>
            </a:pPr>
            <a:r>
              <a:rPr lang="en-US" sz="2398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Key Metrices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Average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shor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test p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ath le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ngth: 9.8852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Av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erage cluste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ring coeff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cient: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0.3647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Random graph clustering coefficient: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0.0000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Cluster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ing ratio (Original / Random)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: 11,397.82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Rand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om graph path length: 5.8097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Path length</a:t>
            </a:r>
            <a:r>
              <a:rPr lang="en-US" b="true" sz="239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ratio (Random / Original): 0.5877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Key Insights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398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The network exhibits small-world properties: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398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High clustering and short path lengths are characteristic features.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398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Clustering coefficient is far greater in the original network compared to a random network.</a:t>
            </a:r>
          </a:p>
          <a:p>
            <a:pPr algn="l" marL="517779" indent="-258890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398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398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ath length ratio shows the network is still quite efficient, but with more localized clustering.</a:t>
            </a:r>
          </a:p>
          <a:p>
            <a:pPr algn="l">
              <a:lnSpc>
                <a:spcPts val="33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09955" y="954378"/>
            <a:ext cx="12500590" cy="222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Predictive Modeling for</a:t>
            </a:r>
          </a:p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Co-Purchases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60262" y="3937026"/>
            <a:ext cx="13167475" cy="504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jective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Use machine learning models to predict whether a pair of products will be co-purchased in the future.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Process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Feature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Extra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ction: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Sal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 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nk 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ifference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prefer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ential at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tachment,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common neighbor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s,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Jaccard coefficient,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etc.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Clas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sification Mod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els: Rand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om Forest, Logistic Regression, Gradient Boosting,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Neural Network, and K-Nearest Neighbors.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09955" y="345730"/>
            <a:ext cx="12500590" cy="222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Classification Model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5298" y="2942185"/>
            <a:ext cx="14109905" cy="1109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Evaluation M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etrics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Accuracy, Precision, Recall, and F1-Score were computed for each model.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3655876" y="4489681"/>
          <a:ext cx="10976248" cy="5303052"/>
        </p:xfrm>
        <a:graphic>
          <a:graphicData uri="http://schemas.openxmlformats.org/drawingml/2006/table">
            <a:tbl>
              <a:tblPr/>
              <a:tblGrid>
                <a:gridCol w="1829375"/>
                <a:gridCol w="1829375"/>
                <a:gridCol w="1829375"/>
                <a:gridCol w="1829375"/>
                <a:gridCol w="1829375"/>
                <a:gridCol w="1829375"/>
              </a:tblGrid>
              <a:tr h="8860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F1 Score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8860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0.6827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0.6652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0.7664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0.7122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0.7935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60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0.6693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0.7959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0.4769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0.5964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0.7920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60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0.6763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0.6809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0.6929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0.6869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0.7805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600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0.5410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0.8150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0.1347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0.2312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0.5657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304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K-NN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0.4993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0.5121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0.4834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0.4973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0.5087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8361" y="8787765"/>
            <a:ext cx="3402110" cy="3204337"/>
          </a:xfrm>
          <a:custGeom>
            <a:avLst/>
            <a:gdLst/>
            <a:ahLst/>
            <a:cxnLst/>
            <a:rect r="r" b="b" t="t" l="l"/>
            <a:pathLst>
              <a:path h="3204337" w="3402110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892596" y="-3681644"/>
            <a:ext cx="2808543" cy="4710344"/>
          </a:xfrm>
          <a:custGeom>
            <a:avLst/>
            <a:gdLst/>
            <a:ahLst/>
            <a:cxnLst/>
            <a:rect r="r" b="b" t="t" l="l"/>
            <a:pathLst>
              <a:path h="4710344" w="2808543">
                <a:moveTo>
                  <a:pt x="0" y="0"/>
                </a:moveTo>
                <a:lnTo>
                  <a:pt x="2808543" y="0"/>
                </a:lnTo>
                <a:lnTo>
                  <a:pt x="2808543" y="4710344"/>
                </a:lnTo>
                <a:lnTo>
                  <a:pt x="0" y="4710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21216" y="9140190"/>
            <a:ext cx="4370544" cy="1811789"/>
          </a:xfrm>
          <a:custGeom>
            <a:avLst/>
            <a:gdLst/>
            <a:ahLst/>
            <a:cxnLst/>
            <a:rect r="r" b="b" t="t" l="l"/>
            <a:pathLst>
              <a:path h="1811789" w="4370544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60629" y="-2180022"/>
            <a:ext cx="4397342" cy="3869189"/>
          </a:xfrm>
          <a:custGeom>
            <a:avLst/>
            <a:gdLst/>
            <a:ahLst/>
            <a:cxnLst/>
            <a:rect r="r" b="b" t="t" l="l"/>
            <a:pathLst>
              <a:path h="3869189" w="4397342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7971" y="2489311"/>
            <a:ext cx="7936029" cy="6339194"/>
          </a:xfrm>
          <a:custGeom>
            <a:avLst/>
            <a:gdLst/>
            <a:ahLst/>
            <a:cxnLst/>
            <a:rect r="r" b="b" t="t" l="l"/>
            <a:pathLst>
              <a:path h="6339194" w="7936029">
                <a:moveTo>
                  <a:pt x="0" y="0"/>
                </a:moveTo>
                <a:lnTo>
                  <a:pt x="7936029" y="0"/>
                </a:lnTo>
                <a:lnTo>
                  <a:pt x="7936029" y="6339194"/>
                </a:lnTo>
                <a:lnTo>
                  <a:pt x="0" y="633919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83622" y="934613"/>
            <a:ext cx="12320756" cy="120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9180"/>
              </a:lnSpc>
            </a:pPr>
            <a:r>
              <a:rPr lang="en-US" b="true" sz="8500" spc="-391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BEST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34108" y="4453042"/>
            <a:ext cx="6725192" cy="2459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4860"/>
              </a:lnSpc>
            </a:pPr>
            <a:r>
              <a:rPr lang="en-US" b="true" sz="4500" spc="-20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Gradient Boosting (GB) with an </a:t>
            </a:r>
            <a:r>
              <a:rPr lang="en-US" b="true" sz="4500" spc="-207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AUC score of 0.7935</a:t>
            </a:r>
            <a:r>
              <a:rPr lang="en-US" b="true" sz="4500" spc="-207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, followed by Random Forest (RF).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09955" y="1502065"/>
            <a:ext cx="12500590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Co-Purchase Prediction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60262" y="3937026"/>
            <a:ext cx="13167475" cy="448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jective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Predict the likelihood that two products will co-purchase in the future.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Method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Feature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ve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ctors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are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computed for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ach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product pair.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feature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vec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tor i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 passed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to the pre-trained machine learning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models for prediction.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09955" y="806408"/>
            <a:ext cx="12500590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Co-Purchase Prediction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9101" y="4071620"/>
            <a:ext cx="7469700" cy="2795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Output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The model ret</a:t>
            </a:r>
            <a:r>
              <a:rPr lang="en-US" sz="3199">
                <a:solidFill>
                  <a:srgbClr val="5B331A"/>
                </a:solidFill>
                <a:latin typeface="Raleway"/>
                <a:ea typeface="Raleway"/>
                <a:cs typeface="Raleway"/>
                <a:sym typeface="Raleway"/>
              </a:rPr>
              <a:t>urns a probability score between 0 and 1 indicating the likelihood of future co-purchase.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9176043" y="2540946"/>
          <a:ext cx="7634288" cy="6982947"/>
        </p:xfrm>
        <a:graphic>
          <a:graphicData uri="http://schemas.openxmlformats.org/drawingml/2006/table">
            <a:tbl>
              <a:tblPr/>
              <a:tblGrid>
                <a:gridCol w="3790579"/>
                <a:gridCol w="1452908"/>
                <a:gridCol w="1227948"/>
                <a:gridCol w="1162853"/>
              </a:tblGrid>
              <a:tr h="871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 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RF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LR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GB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876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Preferential Attachment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0.7001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0.610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1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Adamic-Adar Index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0.0876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0.120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1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Jaccard Coefficient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0.0665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0.080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1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Common Neighbors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0.0644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0.070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1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Salesrank Difference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0.0410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0.070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68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Resource Allocation Index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0.0338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0.040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15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Rating Product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0.0066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0.010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 0.150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809955" y="876149"/>
            <a:ext cx="12500590" cy="222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Co-Purchase Recommendation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60262" y="3653154"/>
            <a:ext cx="13167475" cy="7024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jective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23232"/>
                </a:solidFill>
                <a:latin typeface="Raleway"/>
                <a:ea typeface="Raleway"/>
                <a:cs typeface="Raleway"/>
                <a:sym typeface="Raleway"/>
              </a:rPr>
              <a:t>This section recommends future co-purchases based on a selected book. It suggests products that have a high likelihood of being purchased together, expanding the possibilities of future product bundling.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Method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 se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ect a book 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 get recommendations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for pot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ential co-purchase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system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computes the likelihood of other books being co-purchas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ed with the selected book.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Top re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commend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ed b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ooks are displayed based on predicted lik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elihoods.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036463">
            <a:off x="16885501" y="2973631"/>
            <a:ext cx="4172562" cy="3671407"/>
          </a:xfrm>
          <a:custGeom>
            <a:avLst/>
            <a:gdLst/>
            <a:ahLst/>
            <a:cxnLst/>
            <a:rect r="r" b="b" t="t" l="l"/>
            <a:pathLst>
              <a:path h="3671407" w="4172562">
                <a:moveTo>
                  <a:pt x="0" y="0"/>
                </a:moveTo>
                <a:lnTo>
                  <a:pt x="4172562" y="0"/>
                </a:lnTo>
                <a:lnTo>
                  <a:pt x="4172562" y="3671407"/>
                </a:lnTo>
                <a:lnTo>
                  <a:pt x="0" y="3671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9285" y="8980197"/>
            <a:ext cx="3982597" cy="3751079"/>
          </a:xfrm>
          <a:custGeom>
            <a:avLst/>
            <a:gdLst/>
            <a:ahLst/>
            <a:cxnLst/>
            <a:rect r="r" b="b" t="t" l="l"/>
            <a:pathLst>
              <a:path h="3751079" w="3982597">
                <a:moveTo>
                  <a:pt x="0" y="0"/>
                </a:moveTo>
                <a:lnTo>
                  <a:pt x="3982597" y="0"/>
                </a:lnTo>
                <a:lnTo>
                  <a:pt x="3982597" y="3751079"/>
                </a:lnTo>
                <a:lnTo>
                  <a:pt x="0" y="3751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67786" y="7809398"/>
            <a:ext cx="2703995" cy="4535002"/>
          </a:xfrm>
          <a:custGeom>
            <a:avLst/>
            <a:gdLst/>
            <a:ahLst/>
            <a:cxnLst/>
            <a:rect r="r" b="b" t="t" l="l"/>
            <a:pathLst>
              <a:path h="4535002" w="2703995">
                <a:moveTo>
                  <a:pt x="0" y="0"/>
                </a:moveTo>
                <a:lnTo>
                  <a:pt x="2703996" y="0"/>
                </a:lnTo>
                <a:lnTo>
                  <a:pt x="2703996" y="4535002"/>
                </a:lnTo>
                <a:lnTo>
                  <a:pt x="0" y="4535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70587" y="-1895890"/>
            <a:ext cx="2579378" cy="3842649"/>
          </a:xfrm>
          <a:custGeom>
            <a:avLst/>
            <a:gdLst/>
            <a:ahLst/>
            <a:cxnLst/>
            <a:rect r="r" b="b" t="t" l="l"/>
            <a:pathLst>
              <a:path h="3842649" w="2579378">
                <a:moveTo>
                  <a:pt x="0" y="0"/>
                </a:moveTo>
                <a:lnTo>
                  <a:pt x="2579378" y="0"/>
                </a:lnTo>
                <a:lnTo>
                  <a:pt x="2579378" y="3842649"/>
                </a:lnTo>
                <a:lnTo>
                  <a:pt x="0" y="3842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18883">
            <a:off x="-1907347" y="2009534"/>
            <a:ext cx="3456470" cy="3041323"/>
          </a:xfrm>
          <a:custGeom>
            <a:avLst/>
            <a:gdLst/>
            <a:ahLst/>
            <a:cxnLst/>
            <a:rect r="r" b="b" t="t" l="l"/>
            <a:pathLst>
              <a:path h="3041323" w="3456470">
                <a:moveTo>
                  <a:pt x="0" y="0"/>
                </a:moveTo>
                <a:lnTo>
                  <a:pt x="3456470" y="0"/>
                </a:lnTo>
                <a:lnTo>
                  <a:pt x="3456470" y="3041323"/>
                </a:lnTo>
                <a:lnTo>
                  <a:pt x="0" y="3041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500836" y="-819400"/>
            <a:ext cx="3310792" cy="2110630"/>
          </a:xfrm>
          <a:custGeom>
            <a:avLst/>
            <a:gdLst/>
            <a:ahLst/>
            <a:cxnLst/>
            <a:rect r="r" b="b" t="t" l="l"/>
            <a:pathLst>
              <a:path h="2110630" w="3310792">
                <a:moveTo>
                  <a:pt x="0" y="0"/>
                </a:moveTo>
                <a:lnTo>
                  <a:pt x="3310791" y="0"/>
                </a:lnTo>
                <a:lnTo>
                  <a:pt x="3310791" y="2110630"/>
                </a:lnTo>
                <a:lnTo>
                  <a:pt x="0" y="21106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191489" y="5767876"/>
            <a:ext cx="2220189" cy="2619692"/>
          </a:xfrm>
          <a:custGeom>
            <a:avLst/>
            <a:gdLst/>
            <a:ahLst/>
            <a:cxnLst/>
            <a:rect r="r" b="b" t="t" l="l"/>
            <a:pathLst>
              <a:path h="2619692" w="2220189">
                <a:moveTo>
                  <a:pt x="0" y="0"/>
                </a:moveTo>
                <a:lnTo>
                  <a:pt x="2220189" y="0"/>
                </a:lnTo>
                <a:lnTo>
                  <a:pt x="2220189" y="2619692"/>
                </a:lnTo>
                <a:lnTo>
                  <a:pt x="0" y="26196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213684" y="876149"/>
            <a:ext cx="13860632" cy="2226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GUI Working of Prediction and Recommendation Tasks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60262" y="3937026"/>
            <a:ext cx="13167475" cy="5043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Ob</a:t>
            </a:r>
            <a:r>
              <a:rPr lang="en-US" b="true" sz="3199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jective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Demonstrate the working of the co-purchase prediction and recommendation system via a graphical user interface (GUI).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5B331A"/>
                </a:solidFill>
                <a:latin typeface="Raleway Bold"/>
                <a:ea typeface="Raleway Bold"/>
                <a:cs typeface="Raleway Bold"/>
                <a:sym typeface="Raleway Bold"/>
              </a:rPr>
              <a:t>Process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Users input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two produ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cts for co-pu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rchase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predic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tio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n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or choo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a product for recommenda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tions.</a:t>
            </a:r>
          </a:p>
          <a:p>
            <a:pPr algn="l" marL="690876" indent="-345438" lvl="1">
              <a:lnSpc>
                <a:spcPts val="44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sy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stem provid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es the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predicted likelihood of</a:t>
            </a:r>
            <a:r>
              <a:rPr lang="en-US" b="true" sz="31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co-purchase and recommends other products.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2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148361" y="8787765"/>
            <a:ext cx="3402110" cy="3204337"/>
          </a:xfrm>
          <a:custGeom>
            <a:avLst/>
            <a:gdLst/>
            <a:ahLst/>
            <a:cxnLst/>
            <a:rect r="r" b="b" t="t" l="l"/>
            <a:pathLst>
              <a:path h="3204337" w="3402110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1892596" y="-3681644"/>
            <a:ext cx="2808543" cy="4710344"/>
          </a:xfrm>
          <a:custGeom>
            <a:avLst/>
            <a:gdLst/>
            <a:ahLst/>
            <a:cxnLst/>
            <a:rect r="r" b="b" t="t" l="l"/>
            <a:pathLst>
              <a:path h="4710344" w="2808543">
                <a:moveTo>
                  <a:pt x="0" y="0"/>
                </a:moveTo>
                <a:lnTo>
                  <a:pt x="2808543" y="0"/>
                </a:lnTo>
                <a:lnTo>
                  <a:pt x="2808543" y="4710344"/>
                </a:lnTo>
                <a:lnTo>
                  <a:pt x="0" y="4710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21216" y="9140190"/>
            <a:ext cx="4370544" cy="1811789"/>
          </a:xfrm>
          <a:custGeom>
            <a:avLst/>
            <a:gdLst/>
            <a:ahLst/>
            <a:cxnLst/>
            <a:rect r="r" b="b" t="t" l="l"/>
            <a:pathLst>
              <a:path h="1811789" w="4370544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060629" y="-2180022"/>
            <a:ext cx="4397342" cy="3869189"/>
          </a:xfrm>
          <a:custGeom>
            <a:avLst/>
            <a:gdLst/>
            <a:ahLst/>
            <a:cxnLst/>
            <a:rect r="r" b="b" t="t" l="l"/>
            <a:pathLst>
              <a:path h="3869189" w="4397342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721857" y="3224462"/>
            <a:ext cx="7150021" cy="6227438"/>
          </a:xfrm>
          <a:custGeom>
            <a:avLst/>
            <a:gdLst/>
            <a:ahLst/>
            <a:cxnLst/>
            <a:rect r="r" b="b" t="t" l="l"/>
            <a:pathLst>
              <a:path h="6227438" w="7150021">
                <a:moveTo>
                  <a:pt x="0" y="0"/>
                </a:moveTo>
                <a:lnTo>
                  <a:pt x="7150021" y="0"/>
                </a:lnTo>
                <a:lnTo>
                  <a:pt x="7150021" y="6227438"/>
                </a:lnTo>
                <a:lnTo>
                  <a:pt x="0" y="62274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39089" y="3260496"/>
            <a:ext cx="6104202" cy="6191405"/>
          </a:xfrm>
          <a:custGeom>
            <a:avLst/>
            <a:gdLst/>
            <a:ahLst/>
            <a:cxnLst/>
            <a:rect r="r" b="b" t="t" l="l"/>
            <a:pathLst>
              <a:path h="6191405" w="6104202">
                <a:moveTo>
                  <a:pt x="0" y="0"/>
                </a:moveTo>
                <a:lnTo>
                  <a:pt x="6104202" y="0"/>
                </a:lnTo>
                <a:lnTo>
                  <a:pt x="6104202" y="6191404"/>
                </a:lnTo>
                <a:lnTo>
                  <a:pt x="0" y="619140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39089" y="669989"/>
            <a:ext cx="13543221" cy="2105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100"/>
              </a:lnSpc>
            </a:pPr>
            <a:r>
              <a:rPr lang="en-US" b="true" sz="7500" spc="-345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GUI Working of Prediction and Recommendation Tasks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450" y="848301"/>
            <a:ext cx="9480421" cy="113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8640"/>
              </a:lnSpc>
            </a:pPr>
            <a:r>
              <a:rPr lang="en-US" b="true" sz="8000" spc="-368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14450" y="2444086"/>
            <a:ext cx="10554523" cy="616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The co-purchase network exhibits typical real-world complex network behavior, with characteristics like heavy-tailed degree distributions, community structure, and small-world properties.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Predictive modeling based on network structure and product metadata offers valuable insights into future co-purchase behaviors.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 b="true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Future Work: Refining the models by incorporating more features and testing additional recommendation algorithms for better accuracy.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637999">
            <a:off x="12765626" y="3241846"/>
            <a:ext cx="4590006" cy="4636370"/>
          </a:xfrm>
          <a:custGeom>
            <a:avLst/>
            <a:gdLst/>
            <a:ahLst/>
            <a:cxnLst/>
            <a:rect r="r" b="b" t="t" l="l"/>
            <a:pathLst>
              <a:path h="4636370" w="4590006">
                <a:moveTo>
                  <a:pt x="0" y="0"/>
                </a:moveTo>
                <a:lnTo>
                  <a:pt x="4590006" y="0"/>
                </a:lnTo>
                <a:lnTo>
                  <a:pt x="4590006" y="4636370"/>
                </a:lnTo>
                <a:lnTo>
                  <a:pt x="0" y="46363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148361" y="8787765"/>
            <a:ext cx="3402110" cy="3204337"/>
          </a:xfrm>
          <a:custGeom>
            <a:avLst/>
            <a:gdLst/>
            <a:ahLst/>
            <a:cxnLst/>
            <a:rect r="r" b="b" t="t" l="l"/>
            <a:pathLst>
              <a:path h="3204337" w="3402110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1892596" y="-4209246"/>
            <a:ext cx="3123125" cy="5237946"/>
          </a:xfrm>
          <a:custGeom>
            <a:avLst/>
            <a:gdLst/>
            <a:ahLst/>
            <a:cxnLst/>
            <a:rect r="r" b="b" t="t" l="l"/>
            <a:pathLst>
              <a:path h="5237946" w="3123125">
                <a:moveTo>
                  <a:pt x="0" y="0"/>
                </a:moveTo>
                <a:lnTo>
                  <a:pt x="3123125" y="0"/>
                </a:lnTo>
                <a:lnTo>
                  <a:pt x="3123125" y="5237946"/>
                </a:lnTo>
                <a:lnTo>
                  <a:pt x="0" y="52379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21216" y="9140190"/>
            <a:ext cx="4370544" cy="1811789"/>
          </a:xfrm>
          <a:custGeom>
            <a:avLst/>
            <a:gdLst/>
            <a:ahLst/>
            <a:cxnLst/>
            <a:rect r="r" b="b" t="t" l="l"/>
            <a:pathLst>
              <a:path h="1811789" w="4370544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60629" y="-2180022"/>
            <a:ext cx="4397342" cy="3869189"/>
          </a:xfrm>
          <a:custGeom>
            <a:avLst/>
            <a:gdLst/>
            <a:ahLst/>
            <a:cxnLst/>
            <a:rect r="r" b="b" t="t" l="l"/>
            <a:pathLst>
              <a:path h="3869189" w="4397342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9762" y="-2546358"/>
            <a:ext cx="3925385" cy="3453918"/>
          </a:xfrm>
          <a:custGeom>
            <a:avLst/>
            <a:gdLst/>
            <a:ahLst/>
            <a:cxnLst/>
            <a:rect r="r" b="b" t="t" l="l"/>
            <a:pathLst>
              <a:path h="3453918" w="3925385">
                <a:moveTo>
                  <a:pt x="0" y="0"/>
                </a:moveTo>
                <a:lnTo>
                  <a:pt x="3925385" y="0"/>
                </a:lnTo>
                <a:lnTo>
                  <a:pt x="3925385" y="3453917"/>
                </a:lnTo>
                <a:lnTo>
                  <a:pt x="0" y="3453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48361" y="8787765"/>
            <a:ext cx="3402110" cy="3204337"/>
          </a:xfrm>
          <a:custGeom>
            <a:avLst/>
            <a:gdLst/>
            <a:ahLst/>
            <a:cxnLst/>
            <a:rect r="r" b="b" t="t" l="l"/>
            <a:pathLst>
              <a:path h="3204337" w="3402110">
                <a:moveTo>
                  <a:pt x="0" y="0"/>
                </a:moveTo>
                <a:lnTo>
                  <a:pt x="3402110" y="0"/>
                </a:lnTo>
                <a:lnTo>
                  <a:pt x="3402110" y="3204337"/>
                </a:lnTo>
                <a:lnTo>
                  <a:pt x="0" y="3204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86221" y="8595947"/>
            <a:ext cx="2235015" cy="3748453"/>
          </a:xfrm>
          <a:custGeom>
            <a:avLst/>
            <a:gdLst/>
            <a:ahLst/>
            <a:cxnLst/>
            <a:rect r="r" b="b" t="t" l="l"/>
            <a:pathLst>
              <a:path h="3748453" w="2235015">
                <a:moveTo>
                  <a:pt x="0" y="0"/>
                </a:moveTo>
                <a:lnTo>
                  <a:pt x="2235015" y="0"/>
                </a:lnTo>
                <a:lnTo>
                  <a:pt x="2235015" y="3748453"/>
                </a:lnTo>
                <a:lnTo>
                  <a:pt x="0" y="3748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81385" y="-1895890"/>
            <a:ext cx="2568580" cy="3826562"/>
          </a:xfrm>
          <a:custGeom>
            <a:avLst/>
            <a:gdLst/>
            <a:ahLst/>
            <a:cxnLst/>
            <a:rect r="r" b="b" t="t" l="l"/>
            <a:pathLst>
              <a:path h="3826562" w="2568580">
                <a:moveTo>
                  <a:pt x="0" y="0"/>
                </a:moveTo>
                <a:lnTo>
                  <a:pt x="2568580" y="0"/>
                </a:lnTo>
                <a:lnTo>
                  <a:pt x="2568580" y="3826563"/>
                </a:lnTo>
                <a:lnTo>
                  <a:pt x="0" y="382656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921216" y="9140190"/>
            <a:ext cx="4370544" cy="1811789"/>
          </a:xfrm>
          <a:custGeom>
            <a:avLst/>
            <a:gdLst/>
            <a:ahLst/>
            <a:cxnLst/>
            <a:rect r="r" b="b" t="t" l="l"/>
            <a:pathLst>
              <a:path h="1811789" w="4370544">
                <a:moveTo>
                  <a:pt x="0" y="0"/>
                </a:moveTo>
                <a:lnTo>
                  <a:pt x="4370544" y="0"/>
                </a:lnTo>
                <a:lnTo>
                  <a:pt x="4370544" y="1811789"/>
                </a:lnTo>
                <a:lnTo>
                  <a:pt x="0" y="18117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47805" y="9140190"/>
            <a:ext cx="4397342" cy="3869189"/>
          </a:xfrm>
          <a:custGeom>
            <a:avLst/>
            <a:gdLst/>
            <a:ahLst/>
            <a:cxnLst/>
            <a:rect r="r" b="b" t="t" l="l"/>
            <a:pathLst>
              <a:path h="3869189" w="4397342">
                <a:moveTo>
                  <a:pt x="0" y="0"/>
                </a:moveTo>
                <a:lnTo>
                  <a:pt x="4397342" y="0"/>
                </a:lnTo>
                <a:lnTo>
                  <a:pt x="4397342" y="3869189"/>
                </a:lnTo>
                <a:lnTo>
                  <a:pt x="0" y="386918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00836" y="-819400"/>
            <a:ext cx="3422053" cy="2181559"/>
          </a:xfrm>
          <a:custGeom>
            <a:avLst/>
            <a:gdLst/>
            <a:ahLst/>
            <a:cxnLst/>
            <a:rect r="r" b="b" t="t" l="l"/>
            <a:pathLst>
              <a:path h="2181559" w="3422053">
                <a:moveTo>
                  <a:pt x="0" y="0"/>
                </a:moveTo>
                <a:lnTo>
                  <a:pt x="3422052" y="0"/>
                </a:lnTo>
                <a:lnTo>
                  <a:pt x="3422052" y="2181559"/>
                </a:lnTo>
                <a:lnTo>
                  <a:pt x="0" y="21815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04193">
            <a:off x="3502837" y="-1607230"/>
            <a:ext cx="3573704" cy="2506060"/>
          </a:xfrm>
          <a:custGeom>
            <a:avLst/>
            <a:gdLst/>
            <a:ahLst/>
            <a:cxnLst/>
            <a:rect r="r" b="b" t="t" l="l"/>
            <a:pathLst>
              <a:path h="2506060" w="3573704">
                <a:moveTo>
                  <a:pt x="0" y="0"/>
                </a:moveTo>
                <a:lnTo>
                  <a:pt x="3573704" y="0"/>
                </a:lnTo>
                <a:lnTo>
                  <a:pt x="3573704" y="2506060"/>
                </a:lnTo>
                <a:lnTo>
                  <a:pt x="0" y="25060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3345623" y="3011807"/>
            <a:ext cx="11596755" cy="4444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7279"/>
              </a:lnSpc>
            </a:pPr>
            <a:r>
              <a:rPr lang="en-US" b="true" sz="15999" spc="-735">
                <a:solidFill>
                  <a:srgbClr val="5B331A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THANK YOU VERY MUCH!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8586669" y="-3086100"/>
            <a:ext cx="2453449" cy="4114800"/>
          </a:xfrm>
          <a:custGeom>
            <a:avLst/>
            <a:gdLst/>
            <a:ahLst/>
            <a:cxnLst/>
            <a:rect r="r" b="b" t="t" l="l"/>
            <a:pathLst>
              <a:path h="4114800" w="2453449">
                <a:moveTo>
                  <a:pt x="0" y="0"/>
                </a:moveTo>
                <a:lnTo>
                  <a:pt x="2453450" y="0"/>
                </a:lnTo>
                <a:lnTo>
                  <a:pt x="24534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DAGmlWegcbM</dc:identifier>
  <dcterms:modified xsi:type="dcterms:W3CDTF">2011-08-01T06:04:30Z</dcterms:modified>
  <cp:revision>1</cp:revision>
  <dc:title>Exploration of Amazon’s Co-Purchase Network</dc:title>
</cp:coreProperties>
</file>